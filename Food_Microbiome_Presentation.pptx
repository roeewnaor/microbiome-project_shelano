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72" r:id="rId23"/>
    <p:sldId id="273" r:id="rId24"/>
    <p:sldId id="274" r:id="rId25"/>
    <p:sldId id="275" r:id="rId26"/>
    <p:sldId id="276" r:id="rId2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Rla1nXK/PD28wBQXWGJEcIVB+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752334-EAEC-4BA0-A262-E9B9C841490B}">
  <a:tblStyle styleId="{9E752334-EAEC-4BA0-A262-E9B9C84149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Share of FME contribution (after normalization)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B43"/>
              </a:solidFill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bubble3D val="0"/>
            <c:spPr>
              <a:solidFill>
                <a:srgbClr val="8FB39D"/>
              </a:solidFill>
              <a:effectLst/>
            </c:spPr>
          </c:dPt>
          <c:dPt>
            <c:idx val="3"/>
            <c:bubble3D val="0"/>
            <c:spPr>
              <a:solidFill>
                <a:srgbClr val="C155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Dairy</c:v>
                </c:pt>
                <c:pt idx="1">
                  <c:v>Beverage</c:v>
                </c:pt>
                <c:pt idx="2">
                  <c:v>Vegetable</c:v>
                </c:pt>
                <c:pt idx="3">
                  <c:v>Meat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59.2</c:v>
                </c:pt>
                <c:pt idx="1">
                  <c:v>22.1</c:v>
                </c:pt>
                <c:pt idx="2">
                  <c:v>15.7</c:v>
                </c:pt>
                <c:pt idx="3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AUC by research-question dimension (LightGBM, grouped CV)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4B4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B4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E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39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Stability</c:v>
                  </c:pt>
                  <c:pt idx="1">
                    <c:v>Structure</c:v>
                  </c:pt>
                  <c:pt idx="2">
                    <c:v>Diversity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0.747</c:v>
                </c:pt>
                <c:pt idx="1">
                  <c:v>0.612</c:v>
                </c:pt>
                <c:pt idx="2">
                  <c:v>0.588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F2A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LightGBM feature importance (GutStable)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4B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B4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B4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B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4B4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FB39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Silhouette (T-1)</c:v>
                  </c:pt>
                  <c:pt idx="1">
                    <c:v>Num. Taxa (T-1)</c:v>
                  </c:pt>
                  <c:pt idx="2">
                    <c:v>Protein intake</c:v>
                  </c:pt>
                  <c:pt idx="3">
                    <c:v>Fat intake</c:v>
                  </c:pt>
                  <c:pt idx="4">
                    <c:v>Entropy-Family (T-1)</c:v>
                  </c:pt>
                  <c:pt idx="5">
                    <c:v>Fiber intake</c:v>
                  </c:pt>
                  <c:pt idx="6">
                    <c:v>Entropy-Micro (T-1)</c:v>
                  </c:pt>
                  <c:pt idx="7">
                    <c:v>FME score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166</c:v>
                </c:pt>
                <c:pt idx="1">
                  <c:v>160</c:v>
                </c:pt>
                <c:pt idx="2">
                  <c:v>153</c:v>
                </c:pt>
                <c:pt idx="3">
                  <c:v>147</c:v>
                </c:pt>
                <c:pt idx="4">
                  <c:v>138</c:v>
                </c:pt>
                <c:pt idx="5">
                  <c:v>109</c:v>
                </c:pt>
                <c:pt idx="6">
                  <c:v>106</c:v>
                </c:pt>
                <c:pt idx="7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MCT vs. EVOO prediction - algorithm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B885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85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E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E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6E5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XGBoost</c:v>
                  </c:pt>
                  <c:pt idx="1">
                    <c:v>LightGBM</c:v>
                  </c:pt>
                  <c:pt idx="2">
                    <c:v>Gradient
Boosting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0.711</c:v>
                </c:pt>
                <c:pt idx="1">
                  <c:v>0.704</c:v>
                </c:pt>
                <c:pt idx="2">
                  <c:v>0.699</c:v>
                </c:pt>
                <c:pt idx="3">
                  <c:v>0.698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ewimg1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ewimg2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ewimg3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ewimg4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ewimg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B4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945" y="74706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Food Microbiome Exposure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the Human Gut Ecosystem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97764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D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Linking Food and Human Microbiome Datasets to Predict Gut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D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Stability, Diversity, and 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789920" y="5120640"/>
            <a:ext cx="109728" cy="109728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22960" y="56235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9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FB39D"/>
                </a:solidFill>
                <a:latin typeface="Calibri"/>
                <a:ea typeface="Calibri"/>
                <a:cs typeface="Calibri"/>
                <a:sym typeface="Calibri"/>
              </a:rPr>
              <a:t>Bar-Ilan University  |  Introduction to Data Science  |  Final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601675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Roee Winter   •   Gal Ariel   •   Orel Atia   •   Yonatan Koren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B4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001" y="741121"/>
            <a:ext cx="575158" cy="57515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Project Question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2423160"/>
            <a:ext cx="10515600" cy="3017520"/>
          </a:xfrm>
          <a:prstGeom prst="roundRect">
            <a:avLst>
              <a:gd fmla="val 2424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188720" y="2697480"/>
            <a:ext cx="9784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exposure to “food microbiomes” — the microbial communities living in fermented foods — measurably affect the stability, diversity, and community structure of the human gut microbiome on the following day?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88720" y="4526280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9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FB39D"/>
                </a:solidFill>
                <a:latin typeface="Calibri"/>
                <a:ea typeface="Calibri"/>
                <a:cs typeface="Calibri"/>
                <a:sym typeface="Calibri"/>
              </a:rPr>
              <a:t>...and can this be answered despite the food and human-gut datasets sharing no common identifier?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C4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Two Datasets, Two Different Worlds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1417320"/>
            <a:ext cx="5074920" cy="4754880"/>
          </a:xfrm>
          <a:prstGeom prst="roundRect">
            <a:avLst>
              <a:gd fmla="val 1538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890" y="18205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1691640" y="17373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Dataset 1: cFMD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691640" y="21671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curated Food Metagenomic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68680" y="2743200"/>
            <a:ext cx="4480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3,441 food samples (cheese, beer, salami, pickles...)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5,057 taxa x 3,393 samples taxonomic matrix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85 source studies, microbiology-driven categories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Describes what could be eaten - not tied to any person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68680" y="56692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Carlino et al., 2024, Cell [1]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989320" y="1417320"/>
            <a:ext cx="5074920" cy="4754880"/>
          </a:xfrm>
          <a:prstGeom prst="roundRect">
            <a:avLst>
              <a:gd fmla="val 1538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2570" y="18205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7132320" y="17373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Dataset 2: dietstudy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132320" y="216712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“MCTs” human gut longitudinal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309360" y="2743200"/>
            <a:ext cx="4480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32 participants, daily stool samples (up to 17 days)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532 metadata rows, 483 matched microbiome profiles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Daily food diaries (7,625 eating events) + nutrition logs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Randomized: 16 MCT-oil vs. 16 olive-oil (EVOO) arm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309360" y="56692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Johnson et al., 2019, Cell Host &amp; Microbe [2]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The Challenge: No Shared Field Between Them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cFMD describes food by microbiology process; the diary describes food by USDA nutrition category. There is no common column to join 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2103120"/>
            <a:ext cx="4846320" cy="1371600"/>
          </a:xfrm>
          <a:prstGeom prst="roundRect">
            <a:avLst>
              <a:gd fmla="val 5333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68680" y="22402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cFMD side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68680" y="25603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F2A27"/>
                </a:solidFill>
                <a:latin typeface="Consolas"/>
                <a:ea typeface="Consolas"/>
                <a:cs typeface="Consolas"/>
                <a:sym typeface="Consolas"/>
              </a:rPr>
              <a:t>category = “dairy”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F2A27"/>
                </a:solidFill>
                <a:latin typeface="Consolas"/>
                <a:ea typeface="Consolas"/>
                <a:cs typeface="Consolas"/>
                <a:sym typeface="Consolas"/>
              </a:rPr>
              <a:t>subtype = “Cheddar”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766560" y="2103120"/>
            <a:ext cx="4846320" cy="1371600"/>
          </a:xfrm>
          <a:prstGeom prst="roundRect">
            <a:avLst>
              <a:gd fmla="val 5333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086600" y="22402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Diary side (USDA)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086600" y="25603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F2A27"/>
                </a:solidFill>
                <a:latin typeface="Consolas"/>
                <a:ea typeface="Consolas"/>
                <a:cs typeface="Consolas"/>
                <a:sym typeface="Consolas"/>
              </a:rPr>
              <a:t>L1 = Milk_and_Milk_Products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1F2A27"/>
                </a:solidFill>
                <a:latin typeface="Consolas"/>
                <a:ea typeface="Consolas"/>
                <a:cs typeface="Consolas"/>
                <a:sym typeface="Consolas"/>
              </a:rPr>
              <a:t>L2 = Cheeses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6400" y="2514600"/>
            <a:ext cx="548640" cy="548640"/>
          </a:xfrm>
          <a:prstGeom prst="ellipse">
            <a:avLst/>
          </a:prstGeom>
          <a:solidFill>
            <a:srgbClr val="C155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723" y="258592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440680" y="35204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554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1554D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fmla="val 3404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Naive shortcuts that fail: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“meat = meat” merges fermented salami with a plain cooked hamburger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7F2E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Keyword search alone matches “Yogurt dressing” as if it were real yogurt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7F2EC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Picking 10 “convenient” diary categories (coffee, chicken...) without checking whether cFMD even covers them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Our Solution: An Evidence-Validated Mapping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Instead of guessing, we built a brand-new bridge key - food_category_unified - validated in two stages before any mapping was written.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1783080"/>
            <a:ext cx="5349240" cy="1051560"/>
          </a:xfrm>
          <a:prstGeom prst="roundRect">
            <a:avLst>
              <a:gd fmla="val 6957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77240" y="1984248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50" y="2067458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1600200" y="19476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Stage 1: Find real overlap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600200" y="231343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Inspect subtypes of every cFMD category; cross-check against diary keywords - before writing any mapping rule.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63640" y="1783080"/>
            <a:ext cx="5349240" cy="1051560"/>
          </a:xfrm>
          <a:prstGeom prst="roundRect">
            <a:avLst>
              <a:gd fmla="val 6957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92240" y="1984248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450" y="2067458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7315200" y="194767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Stage 2: Build explicit allow-lists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315200" y="231343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Item-by-item lists per category, excluding smoked meats, condiments, and dressings that only superficially match.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30632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Result: 4 of 15 cFMD categories had a validated, real counterpart in the diary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" name="Google Shape;94;p5"/>
          <p:cNvGraphicFramePr/>
          <p:nvPr/>
        </p:nvGraphicFramePr>
        <p:xfrm>
          <a:off x="548640" y="3566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{9E752334-EAEC-4BA0-A262-E9B9C841490B}</a:tableStyleId>
              </a:tblPr>
              <a:tblGrid>
                <a:gridCol w="2743200"/>
                <a:gridCol w="3200400"/>
                <a:gridCol w="1188725"/>
                <a:gridCol w="393192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Unified Category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cFMD source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(cFMD)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Diary rule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dairy_fermented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dairy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2,296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cheeses + 13 real yogurt items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beverage_alcoholic_fermented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fermented_beverages + alcohol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alcoholic beverages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meat_cured_fermented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fermented_meat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Salami, pepperoni, cured sausage only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vegetable_fermented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fermented_fruits_and_vegetables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2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2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pickle / sauerkraut / olive items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" name="Google Shape;95;p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From Mapping to a Number: the FME Score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A category label alone means nothing to a model. For each validated category we computed a real microbial signature from cFMD, then combined it with how much a participant ate.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FME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 xml:space="preserve"> = Σ </a:t>
            </a:r>
            <a:r>
              <a:rPr b="0" i="1" lang="en-US" sz="1300" u="none" cap="none" strike="noStrike">
                <a:solidFill>
                  <a:srgbClr val="CFE6DC"/>
                </a:solidFill>
                <a:latin typeface="Cambria"/>
                <a:ea typeface="Cambria"/>
                <a:cs typeface="Cambria"/>
                <a:sym typeface="Cambria"/>
              </a:rPr>
              <a:t>categories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 xml:space="preserve">  z-score( grams eaten × category richness 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Microbial signature per category (from cFMD taxonomic profiles):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6"/>
          <p:cNvGraphicFramePr/>
          <p:nvPr/>
        </p:nvGraphicFramePr>
        <p:xfrm>
          <a:off x="54864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{9E752334-EAEC-4BA0-A262-E9B9C841490B}</a:tableStyleId>
              </a:tblPr>
              <a:tblGrid>
                <a:gridCol w="2377450"/>
                <a:gridCol w="1554475"/>
                <a:gridCol w="1554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6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Richness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6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Diversity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6E5E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Cured meat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Pickled vegetables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Dairy (cheese/yogurt)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Alcoholic beverages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" name="Google Shape;107;p6"/>
          <p:cNvGraphicFramePr/>
          <p:nvPr/>
        </p:nvGraphicFramePr>
        <p:xfrm>
          <a:off x="6400800" y="2971800"/>
          <a:ext cx="521208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8" name="Google Shape;108;p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Main Steps of the Analysis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55370" y="210312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8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54864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5836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Validate &amp; Map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5836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Evidence-based category linkage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5896" y="2322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243078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937510" y="210312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072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243078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54050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Build FME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54050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Microbial signature x diet diary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8036" y="2322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431292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819650" y="210312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286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431292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42264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Temporal Backbone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42264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Pair every T-1 -&gt; T daily transition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0176" y="2322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619506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701790" y="210312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500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619506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30478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Define Targets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30478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Stability / Diversity /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2316" y="2322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807720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583930" y="210312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14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807720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18692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Grouped CV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18692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Train &amp; evaluate, no participant leakage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4456" y="23225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9959340" y="1828800"/>
            <a:ext cx="1653540" cy="3291840"/>
          </a:xfrm>
          <a:prstGeom prst="roundRect">
            <a:avLst>
              <a:gd fmla="val 4424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0466070" y="210312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49280" y="218633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9959340" y="2834640"/>
            <a:ext cx="16535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8852E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069068" y="3246120"/>
            <a:ext cx="14340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069068" y="3977640"/>
            <a:ext cx="14340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Permutation testing for significance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What Are We Actually Predicting?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fmla="val 5333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1005840" y="1600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Day T-1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05840" y="20574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Gut state + FME (diet) 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nutrition + supplement arm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648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3749040" y="22402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predicts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663440" y="1600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Day 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663440" y="20574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Did the gut ecosystem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change, and how?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7680960" y="1554480"/>
            <a:ext cx="0" cy="1051560"/>
          </a:xfrm>
          <a:prstGeom prst="straightConnector1">
            <a:avLst/>
          </a:prstGeom>
          <a:noFill/>
          <a:ln cap="flat" cmpd="sng" w="19050">
            <a:solidFill>
              <a:srgbClr val="C9D8D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7955280" y="178308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350 valid transitions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32 participants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" y="31089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988820" y="338328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2030" y="3466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548640" y="41605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77240" y="45720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Taxon turnover (gained/gone) between days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343400" y="31089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783580" y="338328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6790" y="3466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4343400" y="41605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Diversity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0" y="45720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Change in Shannon entropy of the community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138160" y="3108960"/>
            <a:ext cx="3520440" cy="2286000"/>
          </a:xfrm>
          <a:prstGeom prst="roundRect">
            <a:avLst>
              <a:gd fmla="val 3200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9578340" y="338328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1550" y="3466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8138160" y="41605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Structure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366760" y="45720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Change in how distinctly families separate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Avoiding a Critical Pitfall: Participant Leakage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A participant's supplement arm and baseline gut signature stay constant across their own days. A naive random split lets a model “cheat” by memorizing identity instead of learning real diet-gut relationships.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2057400"/>
            <a:ext cx="5349240" cy="3566160"/>
          </a:xfrm>
          <a:prstGeom prst="roundRect">
            <a:avLst>
              <a:gd fmla="val 2051" name="adj"/>
            </a:avLst>
          </a:prstGeom>
          <a:solidFill>
            <a:srgbClr val="FBEFE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C155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947" y="240898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1645920" y="233172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54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1554D"/>
                </a:solidFill>
                <a:latin typeface="Cambria"/>
                <a:ea typeface="Cambria"/>
                <a:cs typeface="Cambria"/>
                <a:sym typeface="Cambria"/>
              </a:rPr>
              <a:t>Naive random split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68680" y="30175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Same participant's rows appear in BOTH train and test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68680" y="36576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A3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A3A33"/>
                </a:solidFill>
                <a:latin typeface="Calibri"/>
                <a:ea typeface="Calibri"/>
                <a:cs typeface="Calibri"/>
                <a:sym typeface="Calibri"/>
              </a:rPr>
              <a:t>Result observed in earlier project work: a classifier scored accuracy = 1.00 — a red flag, not a success.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68680" y="49377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5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1554D"/>
                </a:solidFill>
                <a:latin typeface="Calibri"/>
                <a:ea typeface="Calibri"/>
                <a:cs typeface="Calibri"/>
                <a:sym typeface="Calibri"/>
              </a:rPr>
              <a:t>❌ Looks great. Means nothing.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263640" y="2057400"/>
            <a:ext cx="5349240" cy="3566160"/>
          </a:xfrm>
          <a:prstGeom prst="roundRect">
            <a:avLst>
              <a:gd fmla="val 2051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583680" y="2331720"/>
            <a:ext cx="594360" cy="59436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0947" y="240898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7360920" y="23317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GroupKFold by participant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583680" y="30175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fold tests on participants never seen in 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583680" y="36576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D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Used consistently for every model in this project, confirmed via 100-permutation testing against chance.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583680" y="49377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✅ Genuine generalization signal.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Models Evaluated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Four tree-ensemble algorithms, identical conservative hyperparameters, no formal tuning (to avoid shrinking an already-small training set).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196596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554480" y="224028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690" y="2323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685800" y="3017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Random Forest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31520" y="3520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Bagging: many independent trees, averaged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85800" y="4937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Breiman, 2001 [10]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429000" y="196596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434840" y="224028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8050" y="2323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3566160" y="3017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Gradient Boosting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611880" y="3520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Sequential trees fit to residual error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566160" y="4937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Friedman, 2001 [11]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309360" y="196596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7315200" y="2240280"/>
            <a:ext cx="640080" cy="64008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8410" y="2323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6446520" y="3017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XGBoost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492240" y="3520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Regularized boosting, 2nd-order splits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446520" y="4937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Chen &amp; Guestrin, 2016 [5]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9189720" y="1965960"/>
            <a:ext cx="2651760" cy="3383280"/>
          </a:xfrm>
          <a:prstGeom prst="roundRect">
            <a:avLst>
              <a:gd fmla="val 2759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195560" y="2240280"/>
            <a:ext cx="640080" cy="64008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8770" y="23234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9326880" y="30175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LightGBM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372600" y="3520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Histogram-based, leaf-wise tree growth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326880" y="4937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Ke et al., 2017 [6]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scikit-learn [4]  |  hyperparameters fixed (n_estimators 200-300, max_depth 3-4, learning_rate 0.1, random_state=42)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Main Results: Answering the Research Question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11"/>
          <p:cNvGraphicFramePr/>
          <p:nvPr/>
        </p:nvGraphicFramePr>
        <p:xfrm>
          <a:off x="548640" y="1280160"/>
          <a:ext cx="6400800" cy="420624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250" name="Google Shape;250;p11"/>
          <p:cNvGraphicFramePr/>
          <p:nvPr/>
        </p:nvGraphicFramePr>
        <p:xfrm>
          <a:off x="7223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{9E752334-EAEC-4BA0-A262-E9B9C841490B}</a:tableStyleId>
              </a:tblPr>
              <a:tblGrid>
                <a:gridCol w="2011675"/>
                <a:gridCol w="1188725"/>
                <a:gridCol w="12344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Permutation 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Stability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4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4B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0.001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4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4B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Diversity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4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4B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11"/>
          <p:cNvSpPr/>
          <p:nvPr/>
        </p:nvSpPr>
        <p:spPr>
          <a:xfrm>
            <a:off x="7223760" y="3337560"/>
            <a:ext cx="4434840" cy="2148840"/>
          </a:xfrm>
          <a:prstGeom prst="roundRect">
            <a:avLst>
              <a:gd fmla="val 3404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7543800" y="35204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All 3 dimensions are statistically significant — not chance.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543800" y="41605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Null distributions (100 random-label permutations) center near AUC = 0.50, confirming no leakage in the protocol.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543800" y="5074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9D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B39D"/>
                </a:solidFill>
                <a:latin typeface="Calibri"/>
                <a:ea typeface="Calibri"/>
                <a:cs typeface="Calibri"/>
                <a:sym typeface="Calibri"/>
              </a:rPr>
              <a:t>Stability shows the strongest, most learnable signal.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Primary Model: GutStable (LightGBM)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68.3% accuracy on participants never seen in training - clearly above the 50% random baseline.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12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{9E752334-EAEC-4BA0-A262-E9B9C841490B}</a:tableStyleId>
              </a:tblPr>
              <a:tblGrid>
                <a:gridCol w="1737350"/>
                <a:gridCol w="1874525"/>
                <a:gridCol w="18745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Predicted: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Unstable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6E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Predicted: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6E5E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Actual: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Unstable (172)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43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1B4B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122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E8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554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C155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E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Actual: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(178)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554D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C1554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B43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1B4B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</a:t>
                      </a:r>
                      <a:endParaRPr sz="2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E8E0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12"/>
          <p:cNvSpPr/>
          <p:nvPr/>
        </p:nvSpPr>
        <p:spPr>
          <a:xfrm>
            <a:off x="6400800" y="1920240"/>
            <a:ext cx="5257800" cy="2743200"/>
          </a:xfrm>
          <a:prstGeom prst="roundRect">
            <a:avLst>
              <a:gd fmla="val 2667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6720840" y="2148840"/>
            <a:ext cx="4663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 xml:space="preserve">Sensitivity (Stable): </a:t>
            </a:r>
            <a:r>
              <a:rPr b="1" i="0" lang="en-US" sz="150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65.7%</a:t>
            </a:r>
            <a:r>
              <a:rPr b="0" i="0" lang="en-US" sz="12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 xml:space="preserve">  recall for stable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 xml:space="preserve">Specificity (Unstable): </a:t>
            </a:r>
            <a:r>
              <a:rPr b="1" i="0" lang="en-US" sz="150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70.9%</a:t>
            </a:r>
            <a:r>
              <a:rPr b="0" i="0" lang="en-US" sz="12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 xml:space="preserve">  recall for unstable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F2A2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 xml:space="preserve">Precision (Stable): </a:t>
            </a:r>
            <a:r>
              <a:rPr b="1" i="0" lang="en-US" sz="150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70.1%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48640" y="4892040"/>
            <a:ext cx="11064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Error analysis: misclassified transitions cluster near the median turnover threshold itself - an expected, largely irreducible source of error for a median-split target. Per-participant accuracy ranges widely (15%-100%), echoing personalized diet-microbiome response.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What Actually Drives the Prediction?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13"/>
          <p:cNvGraphicFramePr/>
          <p:nvPr/>
        </p:nvGraphicFramePr>
        <p:xfrm>
          <a:off x="548640" y="1280160"/>
          <a:ext cx="7589520" cy="4480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75" name="Google Shape;275;p13"/>
          <p:cNvSpPr/>
          <p:nvPr/>
        </p:nvSpPr>
        <p:spPr>
          <a:xfrm>
            <a:off x="8366760" y="1280160"/>
            <a:ext cx="3246120" cy="4480560"/>
          </a:xfrm>
          <a:prstGeom prst="roundRect">
            <a:avLst>
              <a:gd fmla="val 2254" name="adj"/>
            </a:avLst>
          </a:prstGeom>
          <a:solidFill>
            <a:srgbClr val="224F45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686800" y="15087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Reading the 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8686800" y="2011680"/>
            <a:ext cx="26517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 xml:space="preserve">~48%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gut state (teal)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 xml:space="preserve">~33%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daily nutrition (gold)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 xml:space="preserve">~18%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FME, fermented food (sage)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8686800" y="4480560"/>
            <a:ext cx="2651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FME contributes a real, secondary signal - not the dominant one. Consistent with cFMD's own finding that food microbes average only ~3% of the adult gut [1].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B43"/>
                </a:solidFill>
                <a:latin typeface="Cambria"/>
                <a:ea typeface="Cambria"/>
                <a:cs typeface="Cambria"/>
                <a:sym typeface="Cambria"/>
              </a:rPr>
              <a:t>A Complementary Model: Diet-Arm Prediction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48640" y="118872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Can a participant's assigned dietary-fat arm (MCT oil vs. olive oil) be predicted from their gut state and FME? All four algorithms agree closely.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14"/>
          <p:cNvGraphicFramePr/>
          <p:nvPr/>
        </p:nvGraphicFramePr>
        <p:xfrm>
          <a:off x="548640" y="1920240"/>
          <a:ext cx="6675120" cy="4023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88" name="Google Shape;288;p14"/>
          <p:cNvSpPr/>
          <p:nvPr/>
        </p:nvSpPr>
        <p:spPr>
          <a:xfrm>
            <a:off x="7452360" y="1920240"/>
            <a:ext cx="4160520" cy="4023360"/>
          </a:xfrm>
          <a:prstGeom prst="roundRect">
            <a:avLst>
              <a:gd fmla="val 1818" name="adj"/>
            </a:avLst>
          </a:prstGeom>
          <a:solidFill>
            <a:srgbClr val="F2F7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7772400" y="2148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43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4B43"/>
                </a:solidFill>
                <a:latin typeface="Calibri"/>
                <a:ea typeface="Calibri"/>
                <a:cs typeface="Calibri"/>
                <a:sym typeface="Calibri"/>
              </a:rPr>
              <a:t>XGBoost selected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7772400" y="2560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5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852E"/>
                </a:solidFill>
                <a:latin typeface="Calibri"/>
                <a:ea typeface="Calibri"/>
                <a:cs typeface="Calibri"/>
                <a:sym typeface="Calibri"/>
              </a:rPr>
              <a:t>AUC = 0.711, Accuracy = 0.660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772400" y="301752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27"/>
                </a:solidFill>
                <a:latin typeface="Calibri"/>
                <a:ea typeface="Calibri"/>
                <a:cs typeface="Calibri"/>
                <a:sym typeface="Calibri"/>
              </a:rPr>
              <a:t>Close clustering across 4 very different algorithm families (0.698-0.711) - strong evidence this is a real, robust signal, not one model's artifact.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7772400" y="429768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Feature importance: dominated by baseline gut entropy (~36%); FME contributes ~21%, concentrated in dairy &amp; alcoholic-beverage exposure.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B4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Conclusions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 xml:space="preserve">Going back to our question: </a:t>
            </a:r>
            <a:r>
              <a:rPr b="0" i="1" lang="en-US" sz="1450" u="none" cap="none" strike="noStrike">
                <a:solidFill>
                  <a:srgbClr val="CFE6DC"/>
                </a:solidFill>
                <a:latin typeface="Calibri"/>
                <a:ea typeface="Calibri"/>
                <a:cs typeface="Calibri"/>
                <a:sym typeface="Calibri"/>
              </a:rPr>
              <a:t>does food-microbiome exposure measurably affect gut stability, diversity, and structure?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 xml:space="preserve">Answer: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Yes — for all three dimensions, though to markedly different degrees — and yes, the two datasets could be linked despite sharing no native identifier.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640080" y="2331720"/>
            <a:ext cx="685800" cy="68580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234" y="242087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/>
          <p:nvPr/>
        </p:nvSpPr>
        <p:spPr>
          <a:xfrm>
            <a:off x="1600200" y="2295144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The two datasets CAN be linked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600200" y="2679192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through an evidence-validated 4-category mapping - not a literal shared field.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40080" y="3310128"/>
            <a:ext cx="685800" cy="68580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234" y="3399282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5"/>
          <p:cNvSpPr/>
          <p:nvPr/>
        </p:nvSpPr>
        <p:spPr>
          <a:xfrm>
            <a:off x="1600200" y="3273552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All 3 research dimensions are significant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600200" y="3657600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Stability (AUC 0.747, p&lt;0.001), Structure (0.612, p=0.010), Diversity (0.588, p=0.010).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40080" y="4288536"/>
            <a:ext cx="685800" cy="68580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234" y="4377690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/>
          <p:nvPr/>
        </p:nvSpPr>
        <p:spPr>
          <a:xfrm>
            <a:off x="1600200" y="4251960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FME is real but secondary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1600200" y="4636008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~18-21% of feature importance - alongside baseline gut state and macro-nutrient intake.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640080" y="5266944"/>
            <a:ext cx="685800" cy="685800"/>
          </a:xfrm>
          <a:prstGeom prst="ellipse">
            <a:avLst/>
          </a:prstGeom>
          <a:solidFill>
            <a:srgbClr val="B88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234" y="5356098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1600200" y="5230368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Cambria"/>
                <a:ea typeface="Cambria"/>
                <a:cs typeface="Cambria"/>
                <a:sym typeface="Cambria"/>
              </a:rPr>
              <a:t>Robust across 4 algorithms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1600200" y="5614416"/>
            <a:ext cx="9784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2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2EC"/>
                </a:solidFill>
                <a:latin typeface="Calibri"/>
                <a:ea typeface="Calibri"/>
                <a:cs typeface="Calibri"/>
                <a:sym typeface="Calibri"/>
              </a:rPr>
              <a:t>and validated with participant-grouped CV plus permutation testing throughout.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C4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B4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2F6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2315" y="195955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6"/>
          <p:cNvSpPr/>
          <p:nvPr/>
        </p:nvSpPr>
        <p:spPr>
          <a:xfrm>
            <a:off x="0" y="3108960"/>
            <a:ext cx="12188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B39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B39D"/>
                </a:solidFill>
                <a:latin typeface="Calibri"/>
                <a:ea typeface="Calibri"/>
                <a:cs typeface="Calibri"/>
                <a:sym typeface="Calibri"/>
              </a:rPr>
              <a:t>Bar-Ilan University  |  Introduction to Data Science  |  Final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25" y="457200"/>
            <a:ext cx="10439550" cy="594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50" y="457200"/>
            <a:ext cx="10430899" cy="594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281" y="457200"/>
            <a:ext cx="7789438" cy="594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45" y="457200"/>
            <a:ext cx="10642909" cy="594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457200"/>
            <a:ext cx="10535838" cy="594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2026-06-23T22:32:26Z</dcterms:created>
  <dc:creator>Bar-Ilan University - Introduction to Data Science</dc:creator>
</cp:coreProperties>
</file>